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22" r:id="rId5"/>
    <p:sldId id="309" r:id="rId6"/>
    <p:sldId id="318" r:id="rId7"/>
    <p:sldId id="320" r:id="rId8"/>
    <p:sldId id="319" r:id="rId9"/>
    <p:sldId id="32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4" autoAdjust="0"/>
    <p:restoredTop sz="95405" autoAdjust="0"/>
  </p:normalViewPr>
  <p:slideViewPr>
    <p:cSldViewPr snapToGrid="0">
      <p:cViewPr varScale="1">
        <p:scale>
          <a:sx n="67" d="100"/>
          <a:sy n="67" d="100"/>
        </p:scale>
        <p:origin x="102" y="180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7/21/2026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70B0C-307C-4197-BF24-DCE6DDF0F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24" y="2174303"/>
            <a:ext cx="10360152" cy="1957959"/>
          </a:xfrm>
        </p:spPr>
        <p:txBody>
          <a:bodyPr/>
          <a:lstStyle/>
          <a:p>
            <a:r>
              <a:rPr lang="en-US" sz="5400" dirty="0"/>
              <a:t>SDLC(Software Development Live Cycle)</a:t>
            </a:r>
            <a:endParaRPr lang="en-ID" sz="5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A477E-8AF2-4E0D-B48F-B5F2B211B7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26814" y="4983163"/>
            <a:ext cx="8109772" cy="989013"/>
          </a:xfrm>
        </p:spPr>
        <p:txBody>
          <a:bodyPr/>
          <a:lstStyle/>
          <a:p>
            <a:r>
              <a:rPr lang="en-US" dirty="0" err="1"/>
              <a:t>Shafira</a:t>
            </a:r>
            <a:r>
              <a:rPr lang="en-US" dirty="0"/>
              <a:t> </a:t>
            </a:r>
            <a:r>
              <a:rPr lang="en-US" dirty="0" err="1"/>
              <a:t>hasna</a:t>
            </a:r>
            <a:r>
              <a:rPr lang="en-US" dirty="0"/>
              <a:t> </a:t>
            </a:r>
            <a:r>
              <a:rPr lang="en-US" dirty="0" err="1"/>
              <a:t>almahira</a:t>
            </a:r>
            <a:endParaRPr lang="en-US" dirty="0"/>
          </a:p>
          <a:p>
            <a:r>
              <a:rPr lang="en-US" dirty="0"/>
              <a:t>X </a:t>
            </a:r>
            <a:r>
              <a:rPr lang="en-US" dirty="0" err="1"/>
              <a:t>Rpl</a:t>
            </a:r>
            <a:r>
              <a:rPr lang="en-US" dirty="0"/>
              <a:t>-a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76321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>
                <a:latin typeface="Bahnschrift SemiBold" panose="020B0502040204020203" pitchFamily="34" charset="0"/>
              </a:rPr>
              <a:t>Apa</a:t>
            </a:r>
            <a:r>
              <a:rPr lang="en-US" sz="4400" dirty="0">
                <a:latin typeface="Bahnschrift SemiBold" panose="020B0502040204020203" pitchFamily="34" charset="0"/>
              </a:rPr>
              <a:t> </a:t>
            </a:r>
            <a:r>
              <a:rPr lang="en-US" sz="4400" dirty="0" err="1">
                <a:latin typeface="Bahnschrift SemiBold" panose="020B0502040204020203" pitchFamily="34" charset="0"/>
              </a:rPr>
              <a:t>itu</a:t>
            </a:r>
            <a:r>
              <a:rPr lang="en-US" sz="4400" dirty="0">
                <a:latin typeface="Bahnschrift SemiBold" panose="020B0502040204020203" pitchFamily="34" charset="0"/>
              </a:rPr>
              <a:t> SDLC 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57400"/>
            <a:ext cx="7534656" cy="25717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sz="2800" b="1" u="none" strike="noStrike" dirty="0">
                <a:effectLst/>
                <a:latin typeface="Arial Narrow" panose="020B0606020202030204" pitchFamily="34" charset="0"/>
              </a:rPr>
              <a:t>SDLC</a:t>
            </a:r>
            <a:r>
              <a:rPr lang="en-ID" sz="2800" dirty="0">
                <a:latin typeface="Arial Narrow" panose="020B0606020202030204" pitchFamily="34" charset="0"/>
              </a:rPr>
              <a:t> (</a:t>
            </a:r>
            <a:r>
              <a:rPr lang="en-ID" sz="2800" dirty="0" err="1">
                <a:latin typeface="Arial Narrow" panose="020B0606020202030204" pitchFamily="34" charset="0"/>
              </a:rPr>
              <a:t>atau</a:t>
            </a:r>
            <a:r>
              <a:rPr lang="en-ID" sz="2800" dirty="0">
                <a:latin typeface="Arial Narrow" panose="020B0606020202030204" pitchFamily="34" charset="0"/>
              </a:rPr>
              <a:t> </a:t>
            </a:r>
            <a:r>
              <a:rPr lang="en-ID" sz="2800" b="0" i="1" u="none" strike="noStrike" dirty="0">
                <a:effectLst/>
                <a:latin typeface="Arial Narrow" panose="020B0606020202030204" pitchFamily="34" charset="0"/>
              </a:rPr>
              <a:t>Software Development Life Cycle</a:t>
            </a:r>
            <a:r>
              <a:rPr lang="en-ID" sz="2800" dirty="0">
                <a:latin typeface="Arial Narrow" panose="020B0606020202030204" pitchFamily="34" charset="0"/>
              </a:rPr>
              <a:t> / </a:t>
            </a:r>
            <a:r>
              <a:rPr lang="en-ID" sz="2800" dirty="0" err="1">
                <a:latin typeface="Arial Narrow" panose="020B0606020202030204" pitchFamily="34" charset="0"/>
              </a:rPr>
              <a:t>Siklus</a:t>
            </a:r>
            <a:r>
              <a:rPr lang="en-ID" sz="2800" dirty="0">
                <a:latin typeface="Arial Narrow" panose="020B0606020202030204" pitchFamily="34" charset="0"/>
              </a:rPr>
              <a:t> </a:t>
            </a:r>
            <a:r>
              <a:rPr lang="en-ID" sz="2800" dirty="0" err="1">
                <a:latin typeface="Arial Narrow" panose="020B0606020202030204" pitchFamily="34" charset="0"/>
              </a:rPr>
              <a:t>Hidup</a:t>
            </a:r>
            <a:r>
              <a:rPr lang="en-ID" sz="2800" dirty="0">
                <a:latin typeface="Arial Narrow" panose="020B0606020202030204" pitchFamily="34" charset="0"/>
              </a:rPr>
              <a:t> </a:t>
            </a:r>
            <a:r>
              <a:rPr lang="en-ID" sz="2800" dirty="0" err="1">
                <a:latin typeface="Arial Narrow" panose="020B0606020202030204" pitchFamily="34" charset="0"/>
              </a:rPr>
              <a:t>Pengembangan</a:t>
            </a:r>
            <a:r>
              <a:rPr lang="en-ID" sz="2800" dirty="0">
                <a:latin typeface="Arial Narrow" panose="020B0606020202030204" pitchFamily="34" charset="0"/>
              </a:rPr>
              <a:t> </a:t>
            </a:r>
            <a:r>
              <a:rPr lang="en-ID" sz="2800" dirty="0" err="1">
                <a:latin typeface="Arial Narrow" panose="020B0606020202030204" pitchFamily="34" charset="0"/>
              </a:rPr>
              <a:t>Sistem</a:t>
            </a:r>
            <a:r>
              <a:rPr lang="en-ID" sz="2800" dirty="0">
                <a:latin typeface="Arial Narrow" panose="020B0606020202030204" pitchFamily="34" charset="0"/>
              </a:rPr>
              <a:t>) </a:t>
            </a:r>
            <a:r>
              <a:rPr lang="en-ID" sz="2800" dirty="0" err="1">
                <a:latin typeface="Arial Narrow" panose="020B0606020202030204" pitchFamily="34" charset="0"/>
              </a:rPr>
              <a:t>adalah</a:t>
            </a:r>
            <a:r>
              <a:rPr lang="en-ID" sz="2800" dirty="0">
                <a:latin typeface="Arial Narrow" panose="020B0606020202030204" pitchFamily="34" charset="0"/>
              </a:rPr>
              <a:t> </a:t>
            </a:r>
            <a:r>
              <a:rPr lang="en-ID" sz="2800" dirty="0" err="1">
                <a:latin typeface="Arial Narrow" panose="020B0606020202030204" pitchFamily="34" charset="0"/>
              </a:rPr>
              <a:t>kerangka</a:t>
            </a:r>
            <a:r>
              <a:rPr lang="en-ID" sz="2800" dirty="0">
                <a:latin typeface="Arial Narrow" panose="020B0606020202030204" pitchFamily="34" charset="0"/>
              </a:rPr>
              <a:t> </a:t>
            </a:r>
            <a:r>
              <a:rPr lang="en-ID" sz="2800" dirty="0" err="1">
                <a:latin typeface="Arial Narrow" panose="020B0606020202030204" pitchFamily="34" charset="0"/>
              </a:rPr>
              <a:t>kerja</a:t>
            </a:r>
            <a:r>
              <a:rPr lang="en-ID" sz="2800" dirty="0">
                <a:latin typeface="Arial Narrow" panose="020B0606020202030204" pitchFamily="34" charset="0"/>
              </a:rPr>
              <a:t> </a:t>
            </a:r>
            <a:r>
              <a:rPr lang="en-ID" sz="2800" dirty="0" err="1">
                <a:latin typeface="Arial Narrow" panose="020B0606020202030204" pitchFamily="34" charset="0"/>
              </a:rPr>
              <a:t>sistematis</a:t>
            </a:r>
            <a:r>
              <a:rPr lang="en-ID" sz="2800" dirty="0">
                <a:latin typeface="Arial Narrow" panose="020B0606020202030204" pitchFamily="34" charset="0"/>
              </a:rPr>
              <a:t> yang </a:t>
            </a:r>
            <a:r>
              <a:rPr lang="en-ID" sz="2800" dirty="0" err="1">
                <a:latin typeface="Arial Narrow" panose="020B0606020202030204" pitchFamily="34" charset="0"/>
              </a:rPr>
              <a:t>digunakan</a:t>
            </a:r>
            <a:r>
              <a:rPr lang="en-ID" sz="2800" dirty="0">
                <a:latin typeface="Arial Narrow" panose="020B0606020202030204" pitchFamily="34" charset="0"/>
              </a:rPr>
              <a:t> oleh </a:t>
            </a:r>
            <a:r>
              <a:rPr lang="en-ID" sz="2800" dirty="0" err="1">
                <a:latin typeface="Arial Narrow" panose="020B0606020202030204" pitchFamily="34" charset="0"/>
              </a:rPr>
              <a:t>tim</a:t>
            </a:r>
            <a:r>
              <a:rPr lang="en-ID" sz="2800" dirty="0">
                <a:latin typeface="Arial Narrow" panose="020B0606020202030204" pitchFamily="34" charset="0"/>
              </a:rPr>
              <a:t> </a:t>
            </a:r>
            <a:r>
              <a:rPr lang="en-ID" sz="2800" dirty="0" err="1">
                <a:latin typeface="Arial Narrow" panose="020B0606020202030204" pitchFamily="34" charset="0"/>
              </a:rPr>
              <a:t>pengembang</a:t>
            </a:r>
            <a:r>
              <a:rPr lang="en-ID" sz="2800" dirty="0">
                <a:latin typeface="Arial Narrow" panose="020B0606020202030204" pitchFamily="34" charset="0"/>
              </a:rPr>
              <a:t> </a:t>
            </a:r>
            <a:r>
              <a:rPr lang="en-ID" sz="2800" dirty="0" err="1">
                <a:latin typeface="Arial Narrow" panose="020B0606020202030204" pitchFamily="34" charset="0"/>
              </a:rPr>
              <a:t>untuk</a:t>
            </a:r>
            <a:r>
              <a:rPr lang="en-ID" sz="2800" dirty="0">
                <a:latin typeface="Arial Narrow" panose="020B0606020202030204" pitchFamily="34" charset="0"/>
              </a:rPr>
              <a:t> </a:t>
            </a:r>
            <a:r>
              <a:rPr lang="en-ID" sz="2800" dirty="0" err="1">
                <a:latin typeface="Arial Narrow" panose="020B0606020202030204" pitchFamily="34" charset="0"/>
              </a:rPr>
              <a:t>merancang</a:t>
            </a:r>
            <a:r>
              <a:rPr lang="en-ID" sz="2800" dirty="0">
                <a:latin typeface="Arial Narrow" panose="020B0606020202030204" pitchFamily="34" charset="0"/>
              </a:rPr>
              <a:t>, </a:t>
            </a:r>
            <a:r>
              <a:rPr lang="en-ID" sz="2800" dirty="0" err="1">
                <a:latin typeface="Arial Narrow" panose="020B0606020202030204" pitchFamily="34" charset="0"/>
              </a:rPr>
              <a:t>membangun</a:t>
            </a:r>
            <a:r>
              <a:rPr lang="en-ID" sz="2800" dirty="0">
                <a:latin typeface="Arial Narrow" panose="020B0606020202030204" pitchFamily="34" charset="0"/>
              </a:rPr>
              <a:t>, </a:t>
            </a:r>
            <a:r>
              <a:rPr lang="en-ID" sz="2800" dirty="0" err="1">
                <a:latin typeface="Arial Narrow" panose="020B0606020202030204" pitchFamily="34" charset="0"/>
              </a:rPr>
              <a:t>menguji</a:t>
            </a:r>
            <a:r>
              <a:rPr lang="en-ID" sz="2800" dirty="0">
                <a:latin typeface="Arial Narrow" panose="020B0606020202030204" pitchFamily="34" charset="0"/>
              </a:rPr>
              <a:t>, dan </a:t>
            </a:r>
            <a:r>
              <a:rPr lang="en-ID" sz="2800" dirty="0" err="1">
                <a:latin typeface="Arial Narrow" panose="020B0606020202030204" pitchFamily="34" charset="0"/>
              </a:rPr>
              <a:t>memelihara</a:t>
            </a:r>
            <a:r>
              <a:rPr lang="en-ID" sz="2800" dirty="0">
                <a:latin typeface="Arial Narrow" panose="020B0606020202030204" pitchFamily="34" charset="0"/>
              </a:rPr>
              <a:t> </a:t>
            </a:r>
            <a:r>
              <a:rPr lang="en-ID" sz="2800" dirty="0" err="1">
                <a:latin typeface="Arial Narrow" panose="020B0606020202030204" pitchFamily="34" charset="0"/>
              </a:rPr>
              <a:t>perangkat</a:t>
            </a:r>
            <a:r>
              <a:rPr lang="en-ID" sz="2800" dirty="0">
                <a:latin typeface="Arial Narrow" panose="020B0606020202030204" pitchFamily="34" charset="0"/>
              </a:rPr>
              <a:t> </a:t>
            </a:r>
            <a:r>
              <a:rPr lang="en-ID" sz="2800" dirty="0" err="1">
                <a:latin typeface="Arial Narrow" panose="020B0606020202030204" pitchFamily="34" charset="0"/>
              </a:rPr>
              <a:t>lunak</a:t>
            </a:r>
            <a:endParaRPr lang="en-US" sz="2800" dirty="0">
              <a:latin typeface="Arial Narrow" panose="020B0606020202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DC-946D-4979-A259-8FCEF8C8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00050"/>
            <a:ext cx="10360152" cy="1428750"/>
          </a:xfrm>
        </p:spPr>
        <p:txBody>
          <a:bodyPr/>
          <a:lstStyle/>
          <a:p>
            <a:r>
              <a:rPr lang="en-ID" sz="4400" b="0" i="0" dirty="0" err="1">
                <a:solidFill>
                  <a:srgbClr val="232F3E"/>
                </a:solidFill>
                <a:effectLst/>
                <a:latin typeface="AmazonEmberBold"/>
              </a:rPr>
              <a:t>Mengapa</a:t>
            </a:r>
            <a:r>
              <a:rPr lang="en-ID" sz="4400" b="0" i="0" dirty="0">
                <a:solidFill>
                  <a:srgbClr val="232F3E"/>
                </a:solidFill>
                <a:effectLst/>
                <a:latin typeface="AmazonEmberBold"/>
              </a:rPr>
              <a:t> SDLC </a:t>
            </a:r>
            <a:r>
              <a:rPr lang="en-ID" sz="4400" b="0" i="0" dirty="0" err="1">
                <a:solidFill>
                  <a:srgbClr val="232F3E"/>
                </a:solidFill>
                <a:effectLst/>
                <a:latin typeface="AmazonEmberBold"/>
              </a:rPr>
              <a:t>penting</a:t>
            </a:r>
            <a:r>
              <a:rPr lang="en-ID" sz="4400" b="0" i="0" dirty="0">
                <a:solidFill>
                  <a:srgbClr val="232F3E"/>
                </a:solidFill>
                <a:effectLst/>
                <a:latin typeface="AmazonEmberBold"/>
              </a:rPr>
              <a:t>?</a:t>
            </a:r>
            <a:br>
              <a:rPr lang="en-ID" sz="4400" b="0" i="0" dirty="0">
                <a:solidFill>
                  <a:srgbClr val="232F3E"/>
                </a:solidFill>
                <a:effectLst/>
                <a:latin typeface="AmazonEmberBold"/>
              </a:rPr>
            </a:br>
            <a:endParaRPr lang="en-ID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1F3CF-7F57-4A7E-B488-424E8DAE553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Pengembangan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perangkat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lunak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dapat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menjadi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tantangan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untuk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dikelola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karena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persyaratan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yang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berubah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,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peningkatan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teknologi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, dan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kolaborasi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lintas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fungsi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.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Metodologi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siklus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hidup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pengembangan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perangkat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lunak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(SDLC)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memberikan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kerangka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kerja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manajemen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yang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sistematik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dengan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kiriman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yang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spesifik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pada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setiap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tahap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proses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pengembangan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perangkat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lunak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.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Hasilnya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,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semua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pemangku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kepentingan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setuju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pada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tujuan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pengembangan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perangkat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lunak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dan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persyaratan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awal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serta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memiliki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rencana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untuk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mencapai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tujuan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tersebut</a:t>
            </a:r>
            <a:r>
              <a:rPr lang="en-ID" b="0" i="0" dirty="0">
                <a:solidFill>
                  <a:srgbClr val="333333"/>
                </a:solidFill>
                <a:effectLst/>
                <a:latin typeface="Bahnschrift SemiCondensed" panose="020B0502040204020203" pitchFamily="34" charset="0"/>
              </a:rPr>
              <a:t>.</a:t>
            </a:r>
            <a:endParaRPr lang="en-ID" dirty="0">
              <a:latin typeface="Bahnschrift SemiCondensed" panose="020B05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5AF71-8B1C-41C4-A878-46DBA3E5B16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algn="l"/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Berikut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adalah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beberapa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manfaat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SDLC: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Peningkatan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visibilitas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proses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pengembangan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untuk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semua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pemangku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kepentingan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yang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terlibat</a:t>
            </a:r>
            <a:endParaRPr lang="en-ID" b="0" i="0" dirty="0">
              <a:solidFill>
                <a:srgbClr val="333333"/>
              </a:solidFill>
              <a:effectLst/>
              <a:latin typeface="AmazonEmb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Estimasi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,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perencanaan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, dan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penjadwalan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yang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efisien</a:t>
            </a:r>
            <a:endParaRPr lang="en-ID" b="0" i="0" dirty="0">
              <a:solidFill>
                <a:srgbClr val="333333"/>
              </a:solidFill>
              <a:effectLst/>
              <a:latin typeface="AmazonEmb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Peningkatan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manajemen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risiko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dan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estimasi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biaya</a:t>
            </a:r>
            <a:endParaRPr lang="en-ID" b="0" i="0" dirty="0">
              <a:solidFill>
                <a:srgbClr val="333333"/>
              </a:solidFill>
              <a:effectLst/>
              <a:latin typeface="AmazonEmb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Pengiriman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perangkat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lunak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yang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sistematik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dan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kepuasan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pelanggan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yang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lebih</a:t>
            </a:r>
            <a:r>
              <a:rPr lang="en-ID" b="0" i="0" dirty="0">
                <a:solidFill>
                  <a:srgbClr val="333333"/>
                </a:solidFill>
                <a:effectLst/>
                <a:latin typeface="AmazonEmber"/>
              </a:rPr>
              <a:t> </a:t>
            </a:r>
            <a:r>
              <a:rPr lang="en-ID" b="0" i="0" dirty="0" err="1">
                <a:solidFill>
                  <a:srgbClr val="333333"/>
                </a:solidFill>
                <a:effectLst/>
                <a:latin typeface="AmazonEmber"/>
              </a:rPr>
              <a:t>baik</a:t>
            </a:r>
            <a:endParaRPr lang="en-ID" b="0" i="0" dirty="0">
              <a:solidFill>
                <a:srgbClr val="333333"/>
              </a:solidFill>
              <a:effectLst/>
              <a:latin typeface="AmazonEmber"/>
            </a:endParaRPr>
          </a:p>
          <a:p>
            <a:endParaRPr lang="en-I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920156-E29D-4F92-9345-1C594F8D9C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555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B608C-CB9C-4D18-9940-D762C3E0B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238" y="568284"/>
            <a:ext cx="7534656" cy="889398"/>
          </a:xfrm>
        </p:spPr>
        <p:txBody>
          <a:bodyPr/>
          <a:lstStyle/>
          <a:p>
            <a:r>
              <a:rPr lang="en-US" sz="4000" dirty="0" err="1"/>
              <a:t>Macam</a:t>
            </a:r>
            <a:r>
              <a:rPr lang="en-US" sz="4000" dirty="0"/>
              <a:t> </a:t>
            </a:r>
            <a:r>
              <a:rPr lang="en-US" sz="4000" dirty="0" err="1"/>
              <a:t>macam</a:t>
            </a:r>
            <a:r>
              <a:rPr lang="en-US" sz="4000" dirty="0"/>
              <a:t> SDLC</a:t>
            </a:r>
            <a:endParaRPr lang="en-ID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4053D-2894-4B96-9752-AFE2CAAA57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9098622-4BE9-4BA4-91AB-B17A6F5A20B5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757238" y="1657708"/>
            <a:ext cx="1028700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Metode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utama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yang paling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digunakan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meliputi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Waterfall: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Bersifat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linear dan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sekuensial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, di mana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setiap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fase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harus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selesai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sebelum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tahap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berikutnya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dimulai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Cocok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untuk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proyek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dengan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kebutuhan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pasti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Agile: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Sangat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fleksibel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dan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iteratif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berfokus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pada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kolaborasi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tim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dan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adaptasi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cepat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terhadap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perubahan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Prototyping: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Memungkinkan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pembuatan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model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awal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perangkat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lunak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untuk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diuji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dan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dievaluasi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oleh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pengguna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sebelum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produk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final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dibuat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Spiral: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Pendekatan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yang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berfokus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pada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manajemen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risiko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, sangat ideal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untuk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proyek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berskala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besar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dan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kompleks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V-Model: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Kelanjutan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dari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Waterfall yang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menekankan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tahap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verifikasi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dan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validasi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secara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paralel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antara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proses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pengembangan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dan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pengujian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116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EEB0A-F31A-49BF-BAEE-88CF831C5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5 Langkah SDLC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F2906-FF6C-4F79-846A-6A68CFCA0CA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39112"/>
            <a:ext cx="9958389" cy="4190238"/>
          </a:xfrm>
        </p:spPr>
        <p:txBody>
          <a:bodyPr>
            <a:normAutofit lnSpcReduction="10000"/>
          </a:bodyPr>
          <a:lstStyle/>
          <a:p>
            <a:r>
              <a:rPr lang="en-US" sz="2400" dirty="0" err="1"/>
              <a:t>Perencangan</a:t>
            </a:r>
            <a:r>
              <a:rPr lang="en-US" sz="2400" dirty="0"/>
              <a:t>(planning):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tujuan,ruang</a:t>
            </a:r>
            <a:r>
              <a:rPr lang="en-US" sz="2400" dirty="0"/>
              <a:t> </a:t>
            </a:r>
            <a:r>
              <a:rPr lang="en-US" sz="2400" dirty="0" err="1"/>
              <a:t>lingkup,estimasi</a:t>
            </a:r>
            <a:r>
              <a:rPr lang="en-US" sz="2400" dirty="0"/>
              <a:t> </a:t>
            </a:r>
            <a:r>
              <a:rPr lang="en-US" sz="2400" dirty="0" err="1"/>
              <a:t>biaya,dan</a:t>
            </a:r>
            <a:r>
              <a:rPr lang="en-US" sz="2400" dirty="0"/>
              <a:t> </a:t>
            </a:r>
            <a:r>
              <a:rPr lang="en-US" sz="2400" dirty="0" err="1"/>
              <a:t>jadwal</a:t>
            </a:r>
            <a:r>
              <a:rPr lang="en-US" sz="2400" dirty="0"/>
              <a:t> </a:t>
            </a:r>
            <a:r>
              <a:rPr lang="en-US" sz="2400" dirty="0" err="1"/>
              <a:t>proyek</a:t>
            </a:r>
            <a:endParaRPr lang="en-US" sz="2400" dirty="0"/>
          </a:p>
          <a:p>
            <a:r>
              <a:rPr lang="en-US" sz="2400" dirty="0" err="1"/>
              <a:t>Analisis</a:t>
            </a:r>
            <a:r>
              <a:rPr lang="en-US" sz="2400" dirty="0"/>
              <a:t> </a:t>
            </a:r>
            <a:r>
              <a:rPr lang="en-US" sz="2400" dirty="0" err="1"/>
              <a:t>kebutuhan</a:t>
            </a:r>
            <a:r>
              <a:rPr lang="en-US" sz="2400" dirty="0"/>
              <a:t>(Analysis): </a:t>
            </a:r>
            <a:r>
              <a:rPr lang="en-US" sz="2400" dirty="0" err="1"/>
              <a:t>mengumpulkan</a:t>
            </a:r>
            <a:r>
              <a:rPr lang="en-US" sz="2400" dirty="0"/>
              <a:t> </a:t>
            </a:r>
            <a:r>
              <a:rPr lang="en-US" sz="2400" dirty="0" err="1"/>
              <a:t>informasi</a:t>
            </a:r>
            <a:r>
              <a:rPr lang="en-US" sz="2400" dirty="0"/>
              <a:t> </a:t>
            </a:r>
            <a:r>
              <a:rPr lang="en-US" sz="2400" dirty="0" err="1"/>
              <a:t>mengenai</a:t>
            </a:r>
            <a:r>
              <a:rPr lang="en-US" sz="2400" dirty="0"/>
              <a:t> </a:t>
            </a:r>
            <a:r>
              <a:rPr lang="en-US" sz="2400" dirty="0" err="1"/>
              <a:t>apa</a:t>
            </a:r>
            <a:r>
              <a:rPr lang="en-US" sz="2400" dirty="0"/>
              <a:t> yang </a:t>
            </a:r>
            <a:r>
              <a:rPr lang="en-US" sz="2400" dirty="0" err="1"/>
              <a:t>dibutuhkan</a:t>
            </a:r>
            <a:r>
              <a:rPr lang="en-US" sz="2400" dirty="0"/>
              <a:t> </a:t>
            </a:r>
            <a:r>
              <a:rPr lang="en-US" sz="2400" dirty="0" err="1"/>
              <a:t>pengguna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system</a:t>
            </a:r>
          </a:p>
          <a:p>
            <a:r>
              <a:rPr lang="en-US" sz="2400" dirty="0" err="1"/>
              <a:t>Perancangan</a:t>
            </a:r>
            <a:r>
              <a:rPr lang="en-US" sz="2400" dirty="0"/>
              <a:t>(</a:t>
            </a:r>
            <a:r>
              <a:rPr lang="en-US" sz="2400" dirty="0" err="1"/>
              <a:t>Desaign</a:t>
            </a:r>
            <a:r>
              <a:rPr lang="en-US" sz="2400" dirty="0"/>
              <a:t>): </a:t>
            </a:r>
            <a:r>
              <a:rPr lang="en-US" sz="2400" dirty="0" err="1"/>
              <a:t>membuat</a:t>
            </a:r>
            <a:r>
              <a:rPr lang="en-US" sz="2400" dirty="0"/>
              <a:t> </a:t>
            </a:r>
            <a:r>
              <a:rPr lang="en-US" sz="2400" dirty="0" err="1"/>
              <a:t>cetak</a:t>
            </a:r>
            <a:r>
              <a:rPr lang="en-US" sz="2400" dirty="0"/>
              <a:t> </a:t>
            </a:r>
            <a:r>
              <a:rPr lang="en-US" sz="2400" dirty="0" err="1"/>
              <a:t>biru</a:t>
            </a:r>
            <a:r>
              <a:rPr lang="en-US" sz="2400" dirty="0"/>
              <a:t> (blueprint) </a:t>
            </a:r>
            <a:r>
              <a:rPr lang="en-US" sz="2400" dirty="0" err="1"/>
              <a:t>arsitektur</a:t>
            </a:r>
            <a:r>
              <a:rPr lang="en-US" sz="2400" dirty="0"/>
              <a:t>, </a:t>
            </a:r>
            <a:r>
              <a:rPr lang="en-US" sz="2400" dirty="0" err="1"/>
              <a:t>antarmuka</a:t>
            </a:r>
            <a:r>
              <a:rPr lang="en-US" sz="2400" dirty="0"/>
              <a:t> (UI/UX), dan database system</a:t>
            </a:r>
          </a:p>
          <a:p>
            <a:r>
              <a:rPr lang="en-US" sz="2400" dirty="0" err="1"/>
              <a:t>Pengembangan</a:t>
            </a:r>
            <a:r>
              <a:rPr lang="en-US" sz="2400" dirty="0"/>
              <a:t> (Development): </a:t>
            </a:r>
            <a:r>
              <a:rPr lang="en-US" sz="2400" dirty="0" err="1"/>
              <a:t>Menulis</a:t>
            </a:r>
            <a:r>
              <a:rPr lang="en-US" sz="2400" dirty="0"/>
              <a:t> </a:t>
            </a:r>
            <a:r>
              <a:rPr lang="en-US" sz="2400" dirty="0" err="1"/>
              <a:t>kode</a:t>
            </a:r>
            <a:r>
              <a:rPr lang="en-US" sz="2400" dirty="0"/>
              <a:t> (coding) </a:t>
            </a:r>
            <a:r>
              <a:rPr lang="en-US" sz="2400" dirty="0" err="1"/>
              <a:t>aktual</a:t>
            </a:r>
            <a:r>
              <a:rPr lang="en-US" sz="2400" dirty="0"/>
              <a:t> </a:t>
            </a:r>
            <a:r>
              <a:rPr lang="en-US" sz="2400" dirty="0" err="1"/>
              <a:t>berdasarkan</a:t>
            </a:r>
            <a:r>
              <a:rPr lang="en-US" sz="2400" dirty="0"/>
              <a:t> </a:t>
            </a:r>
            <a:r>
              <a:rPr lang="en-US" sz="2400" dirty="0" err="1"/>
              <a:t>desain</a:t>
            </a:r>
            <a:r>
              <a:rPr lang="en-US" sz="2400" dirty="0"/>
              <a:t> yang </a:t>
            </a:r>
            <a:r>
              <a:rPr lang="en-US" sz="2400" dirty="0" err="1"/>
              <a:t>dibuat</a:t>
            </a:r>
            <a:endParaRPr lang="en-US" sz="2400" dirty="0"/>
          </a:p>
          <a:p>
            <a:r>
              <a:rPr lang="en-US" sz="2400" dirty="0" err="1"/>
              <a:t>Pengujian</a:t>
            </a:r>
            <a:r>
              <a:rPr lang="en-US" sz="2400" dirty="0"/>
              <a:t> &amp; </a:t>
            </a:r>
            <a:r>
              <a:rPr lang="en-US" sz="2400" dirty="0" err="1"/>
              <a:t>pemeliharaan</a:t>
            </a:r>
            <a:r>
              <a:rPr lang="en-US" sz="2400" dirty="0"/>
              <a:t>(Testing &amp; maintenance): </a:t>
            </a:r>
            <a:r>
              <a:rPr lang="en-US" sz="2400" dirty="0" err="1"/>
              <a:t>menguji</a:t>
            </a:r>
            <a:r>
              <a:rPr lang="en-US" sz="2400" dirty="0"/>
              <a:t> </a:t>
            </a:r>
            <a:r>
              <a:rPr lang="en-US" sz="2400" dirty="0" err="1"/>
              <a:t>perangkat</a:t>
            </a:r>
            <a:r>
              <a:rPr lang="en-US" sz="2400" dirty="0"/>
              <a:t> </a:t>
            </a:r>
            <a:r>
              <a:rPr lang="en-US" sz="2400" dirty="0" err="1"/>
              <a:t>lunak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bug </a:t>
            </a:r>
            <a:r>
              <a:rPr lang="en-US" sz="2400" dirty="0" err="1"/>
              <a:t>memastikan</a:t>
            </a:r>
            <a:r>
              <a:rPr lang="en-US" sz="2400" dirty="0"/>
              <a:t> </a:t>
            </a:r>
            <a:r>
              <a:rPr lang="en-US" sz="2400" dirty="0" err="1"/>
              <a:t>fungsinya</a:t>
            </a:r>
            <a:r>
              <a:rPr lang="en-US" sz="2400" dirty="0"/>
              <a:t> </a:t>
            </a:r>
            <a:r>
              <a:rPr lang="en-US" sz="2400" dirty="0" err="1"/>
              <a:t>berjalan</a:t>
            </a:r>
            <a:r>
              <a:rPr lang="en-US" sz="2400" dirty="0"/>
              <a:t> optimal, dan </a:t>
            </a:r>
            <a:r>
              <a:rPr lang="en-US" sz="2400" dirty="0" err="1"/>
              <a:t>melakukan</a:t>
            </a:r>
            <a:r>
              <a:rPr lang="en-US" sz="2400" dirty="0"/>
              <a:t> </a:t>
            </a:r>
            <a:r>
              <a:rPr lang="en-US" sz="2400" dirty="0" err="1"/>
              <a:t>rilis</a:t>
            </a:r>
            <a:r>
              <a:rPr lang="en-US" sz="2400" dirty="0"/>
              <a:t> dan </a:t>
            </a:r>
            <a:r>
              <a:rPr lang="en-US" sz="2400" dirty="0" err="1"/>
              <a:t>dukungan</a:t>
            </a:r>
            <a:r>
              <a:rPr lang="en-US" sz="2400" dirty="0"/>
              <a:t> </a:t>
            </a:r>
            <a:r>
              <a:rPr lang="en-US" sz="2400" dirty="0" err="1"/>
              <a:t>lanjutan</a:t>
            </a:r>
            <a:r>
              <a:rPr lang="en-US" sz="2400" dirty="0"/>
              <a:t> </a:t>
            </a:r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02AFB-4BD8-404D-8328-66D598035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524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4B096-781D-46F3-BCEC-483FD0CAA3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TERIMA KASIH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2549244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{C89EC439-3A57-49C7-AA72-4BB0D252A907}TF1ed9553b-00c4-4092-846a-c8f7f2908f3beecd942f_win32-8e33096c3cfc</Template>
  <TotalTime>160</TotalTime>
  <Words>377</Words>
  <Application>Microsoft Office PowerPoint</Application>
  <PresentationFormat>Widescreen</PresentationFormat>
  <Paragraphs>31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AmazonEmber</vt:lpstr>
      <vt:lpstr>AmazonEmberBold</vt:lpstr>
      <vt:lpstr>Arial</vt:lpstr>
      <vt:lpstr>Arial Narrow</vt:lpstr>
      <vt:lpstr>Bahnschrift SemiBold</vt:lpstr>
      <vt:lpstr>Bahnschrift SemiCondensed</vt:lpstr>
      <vt:lpstr>Calibri</vt:lpstr>
      <vt:lpstr>Courier New</vt:lpstr>
      <vt:lpstr>Gill Sans Nova Light</vt:lpstr>
      <vt:lpstr>Google Sans</vt:lpstr>
      <vt:lpstr>Sagona Book</vt:lpstr>
      <vt:lpstr>Custom</vt:lpstr>
      <vt:lpstr>SDLC(Software Development Live Cycle)</vt:lpstr>
      <vt:lpstr>Apa itu SDLC ?</vt:lpstr>
      <vt:lpstr>Mengapa SDLC penting? </vt:lpstr>
      <vt:lpstr>Macam macam SDLC</vt:lpstr>
      <vt:lpstr>5 Langkah SDLC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SDLC (Software Developmen Live Cycle)</dc:title>
  <dc:creator>LAB RPL 2 - PC 17</dc:creator>
  <cp:lastModifiedBy>LAB RPL 2 - PC 17</cp:lastModifiedBy>
  <cp:revision>10</cp:revision>
  <dcterms:created xsi:type="dcterms:W3CDTF">2026-07-21T04:38:57Z</dcterms:created>
  <dcterms:modified xsi:type="dcterms:W3CDTF">2026-07-21T07:19:31Z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